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5FB4"/>
                </a:solidFill>
                <a:latin typeface="Arial"/>
              </a:rP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 i="0">
                <a:solidFill>
                  <a:srgbClr val="333333"/>
                </a:solidFill>
                <a:latin typeface="Arial"/>
              </a:rPr>
              <a:t>Olist E-commerce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1">
                <a:solidFill>
                  <a:srgbClr val="333333"/>
                </a:solidFill>
                <a:latin typeface="Arial"/>
              </a:rPr>
              <a:t>Delivery — not price, category, or payment — is the single driver of customer satisfaction.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33333"/>
                </a:solidFill>
                <a:latin typeface="Arial"/>
              </a:rPr>
              <a:t>Poi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B5FB4"/>
                </a:solidFill>
                <a:latin typeface="Arial"/>
              </a:rPr>
              <a:t>github.com/workintechpoyrazaka-sketch/olist-ecommerce-analysis</a:t>
            </a:r>
          </a:p>
          <a:p>
            <a:pPr algn="l"/>
            <a:r>
              <a:rPr sz="1200" b="0" i="0">
                <a:solidFill>
                  <a:srgbClr val="AAAAAA"/>
                </a:solidFill>
                <a:latin typeface="Arial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5FB4"/>
                </a:solidFill>
                <a:latin typeface="Arial"/>
              </a:rPr>
              <a:t>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1" i="0">
                <a:solidFill>
                  <a:srgbClr val="333333"/>
                </a:solidFill>
                <a:latin typeface="Arial"/>
              </a:rPr>
              <a:t>Olist satisfaction is delivery-driven.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Arial"/>
              </a:rPr>
              <a:t>Price, category, and payment type each produce trivial or null effects on review score — despite strong between-category price heterogeneity.</a:t>
            </a:r>
          </a:p>
          <a:p>
            <a:pPr algn="l"/>
            <a:r>
              <a:rPr sz="2000" b="0" i="1">
                <a:solidFill>
                  <a:srgbClr val="0B5FB4"/>
                </a:solidFill>
                <a:latin typeface="Arial"/>
              </a:rPr>
              <a:t>The one operational lever is on-time percentage — not average delivery speed.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thirtyday_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20" y="365760"/>
            <a:ext cx="10647680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ontime_vs_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20" y="365760"/>
            <a:ext cx="10647680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thesis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1134"/>
            <a:ext cx="11430000" cy="48985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state_delivery_med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20" y="365760"/>
            <a:ext cx="10647680" cy="5989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5FB4"/>
                </a:solidFill>
                <a:latin typeface="Arial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latin typeface="Arial"/>
              </a:rPr>
              <a:t>How the analysis was done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74519"/>
            <a:ext cx="3520440" cy="1737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39111"/>
            <a:ext cx="35204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0B5FB4"/>
                </a:solidFill>
                <a:latin typeface="Arial"/>
              </a:rPr>
              <a:t>~96k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39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delivered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399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Arial"/>
              </a:rPr>
              <a:t>Jan 2017 – Aug 2018, 20 full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874519"/>
            <a:ext cx="3520440" cy="1737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039111"/>
            <a:ext cx="35204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0B5FB4"/>
                </a:solidFill>
                <a:latin typeface="Arial"/>
              </a:rPr>
              <a:t>99.3%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834639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review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200399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Arial"/>
              </a:rPr>
              <a:t>Flat across status, month, delivery speed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74519"/>
            <a:ext cx="3520440" cy="1737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39111"/>
            <a:ext cx="35204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0B5FB4"/>
                </a:solidFill>
                <a:latin typeface="Arial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834639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statistical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00399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Arial"/>
              </a:rPr>
              <a:t>Spearman, Kruskal-Wallis, Mann-Whitney, Welch's, χ², 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Key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534924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33333"/>
                </a:solidFill>
                <a:latin typeface="Arial"/>
              </a:rPr>
              <a:t>Review score = ordinal.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AAAAAA"/>
                </a:solidFill>
                <a:latin typeface="Arial"/>
              </a:rPr>
              <a:t>Top-box (5★) and bottom-box (1★) rates instead of means.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33333"/>
                </a:solidFill>
                <a:latin typeface="Arial"/>
              </a:rPr>
              <a:t>Delivered-only filter.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AAAAAA"/>
                </a:solidFill>
                <a:latin typeface="Arial"/>
              </a:rPr>
              <a:t>Satisfaction tests restricted to completed deliveries.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33333"/>
                </a:solidFill>
                <a:latin typeface="Arial"/>
              </a:rPr>
              <a:t>Effect size &gt; p-value.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AAAAAA"/>
                </a:solidFill>
                <a:latin typeface="Arial"/>
              </a:rPr>
              <a:t>At n≈96k, significance is near-universal.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343400"/>
            <a:ext cx="534924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33333"/>
                </a:solidFill>
                <a:latin typeface="Arial"/>
              </a:rPr>
              <a:t>Bootstrap CIs on ρ.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AAAAAA"/>
                </a:solidFill>
                <a:latin typeface="Arial"/>
              </a:rPr>
              <a:t>2000 resamples, paired, percentile, seed=42.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33333"/>
                </a:solidFill>
                <a:latin typeface="Arial"/>
              </a:rPr>
              <a:t>Min-n filter, 100.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AAAAAA"/>
                </a:solidFill>
                <a:latin typeface="Arial"/>
              </a:rPr>
              <a:t>20 tiny categories dropped — 0.8% of sample.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33333"/>
                </a:solidFill>
                <a:latin typeface="Arial"/>
              </a:rPr>
              <a:t>Cohen effect thresholds.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AAAAAA"/>
                </a:solidFill>
                <a:latin typeface="Arial"/>
              </a:rPr>
              <a:t>Trivial &lt;0.10, weak &lt;0.30, moderate &lt;0.50, strong ≥0.50.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5FB4"/>
                </a:solidFill>
                <a:latin typeface="Arial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latin typeface="Arial"/>
              </a:rPr>
              <a:t>What this analysis can and can't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229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AAAAAA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74520"/>
            <a:ext cx="98755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33333"/>
                </a:solidFill>
                <a:latin typeface="Arial"/>
              </a:rPr>
              <a:t>Observational, not causal.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The analysis identifies correlations and consistent mediation patterns. It does not rule out unmeasured confounders.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8229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AAAAAA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926080"/>
            <a:ext cx="98755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33333"/>
                </a:solidFill>
                <a:latin typeface="Arial"/>
              </a:rPr>
              <a:t>Reviews dated before delivery (~8.5%) were retained, not filtered.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These represent customers submitting dispute reviews while still awaiting late shipments — the most dissatisfied segment. Removing them would bias top-box rates upward and systematically understate the delivery-satisfaction relationship.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8229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AAAAAA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977640"/>
            <a:ext cx="98755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33333"/>
                </a:solidFill>
                <a:latin typeface="Arial"/>
              </a:rPr>
              <a:t>Analytical window: Jan 2017 – Aug 2018.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Excludes late 2016 (low coverage) and Sep 2018 onward (partial month). Black Friday 2017 retained; coverage verified flat.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8229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AAAAAA"/>
                </a:solidFill>
                <a:latin typeface="Arial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029200"/>
            <a:ext cx="98755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33333"/>
                </a:solidFill>
                <a:latin typeface="Arial"/>
              </a:rPr>
              <a:t>Minimum-n = 100 for category-level tests.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Cleaner rank-statistics and Dunn's matrix at the cost of 0.8% sample coverage. Trade-off documented in notebook 03.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5FB4"/>
                </a:solidFill>
                <a:latin typeface="Arial"/>
              </a:rPr>
              <a:t>WHAT I'D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333333"/>
                </a:solidFill>
                <a:latin typeface="Arial"/>
              </a:rPr>
              <a:t>Three investigations this data opens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520440" cy="3840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B5FB4"/>
                </a:solidFill>
                <a:latin typeface="Arial"/>
              </a:rPr>
              <a:t>office_furniture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971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Retention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971800" cy="2468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The only category combining top-5 median price with bottom-5 satisfaction. Plausible mechanisms — bulk-shipping damage, assembly complexity, expectation-price mismatch — cannot be confirmed from order data alone. Would require review-text NLP or a targeted customer survey.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828800"/>
            <a:ext cx="3520440" cy="3840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57400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B5FB4"/>
                </a:solidFill>
                <a:latin typeface="Arial"/>
              </a:rPr>
              <a:t>Rio de Janeiro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377440"/>
            <a:ext cx="2971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Last-mile 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017520"/>
            <a:ext cx="2971800" cy="2468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RJ sits ~5pp above the delivery-time trend line across top-10 states. Same mean delivery as SC/GO/RS, but measurably worse satisfaction. Points to a carrier-handoff or final-mile problem, not a logistics-distance problem.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3520440" cy="3840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57400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B5FB4"/>
                </a:solidFill>
                <a:latin typeface="Arial"/>
              </a:rPr>
              <a:t>Voucher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2971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Composition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2971800" cy="2468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Voucher completion runs 4.7pp below other payment methods at 1.6% of orders. Most likely explanation is customer-intent composition (promo-driven buyers), not payment-infrastructure failure — but the intent data would need to be joined.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5FB4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Arial"/>
              </a:rPr>
              <a:t>Questions welcome.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333333"/>
                </a:solidFill>
                <a:latin typeface="Arial"/>
              </a:rPr>
              <a:t>If a finding stuck — or didn't — I want to know which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  <a:latin typeface="Arial"/>
              </a:rP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42976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github.com/workintechpoyrazaka-sketch/olist-ecommerce-analysis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  <a:latin typeface="Arial"/>
              </a:rPr>
              <a:t>LinkedIn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70916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linkedin.com/in/adilpoyrazaka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  <a:latin typeface="Arial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512064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akaadilpoyraz@gmail.com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5FB4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333333"/>
                </a:solidFill>
                <a:latin typeface="Arial"/>
              </a:rPr>
              <a:t>Full statistical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447" y="173736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103120"/>
                <a:gridCol w="2468880"/>
                <a:gridCol w="4114800"/>
                <a:gridCol w="1645920"/>
              </a:tblGrid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333333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333333"/>
                          </a:solidFill>
                          <a:latin typeface="Arial"/>
                        </a:rPr>
                        <a:t>Relationship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333333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333333"/>
                          </a:solidFill>
                          <a:latin typeface="Arial"/>
                        </a:rPr>
                        <a:t>Result &amp; effect size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333333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price → delivery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Spearman ρ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ρ = +0.102, CI [+0.095, +0.108]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weak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§4-A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delivery → 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Spearman ρ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ρ = −0.235 — 30-day cliff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5FB4"/>
                          </a:solidFill>
                          <a:latin typeface="Arial"/>
                        </a:rPr>
                        <a:t>headline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§4-B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on-time → 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Mann-Whitney + 2-prop z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|r| = 0.55; OR = 12.2× [11.6, 12.8]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B5FB4"/>
                          </a:solidFill>
                          <a:latin typeface="Arial"/>
                        </a:rPr>
                        <a:t>headline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price → 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Spearman ρ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ρ = −0.029 (mediation consistent)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AAAAAA"/>
                          </a:solidFill>
                          <a:latin typeface="Arial"/>
                        </a:rPr>
                        <a:t>trivial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category → 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Kruskal-Wallis + Dunn's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η²_H = 0.008; 186/1275 pairs sig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AAAAAA"/>
                          </a:solidFill>
                          <a:latin typeface="Arial"/>
                        </a:rPr>
                        <a:t>trivial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Q4a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payment → completion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Chi-square + Cramer's V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V = 0.035; voucher −4.7pp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AAAAAA"/>
                          </a:solidFill>
                          <a:latin typeface="Arial"/>
                        </a:rPr>
                        <a:t>trivial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Q4b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payment → 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Kruskal-Wallis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η²_H ≈ 0.000; p = 0.060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AAAAAA"/>
                          </a:solidFill>
                          <a:latin typeface="Arial"/>
                        </a:rPr>
                        <a:t>trivial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§1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category → log₁₀(price)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Welch's ANOVA + Games-Howell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Arial"/>
                        </a:rPr>
                        <a:t>ω² = 0.129; 899/1275 pairs sig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Arial"/>
                        </a:rPr>
                        <a:t>moderate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5FB4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333333"/>
                </a:solidFill>
                <a:latin typeface="Arial"/>
              </a:rPr>
              <a:t>office_furniture — the one category combining high price and high 1★ rate</a:t>
            </a:r>
          </a:p>
        </p:txBody>
      </p:sp>
      <p:pic>
        <p:nvPicPr>
          <p:cNvPr id="4" name="Picture 3" descr="slide_04_office_furni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840" y="1600200"/>
            <a:ext cx="8371840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5FB4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333333"/>
                </a:solidFill>
                <a:latin typeface="Arial"/>
              </a:rPr>
              <a:t>Q1 — Price vs delivery time (weak positive, ρ = +0.102)</a:t>
            </a:r>
          </a:p>
        </p:txBody>
      </p:sp>
      <p:pic>
        <p:nvPicPr>
          <p:cNvPr id="4" name="Picture 3" descr="07_q1_price_vs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1600200"/>
            <a:ext cx="10360152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5FB4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333333"/>
                </a:solidFill>
                <a:latin typeface="Arial"/>
              </a:rPr>
              <a:t>§1 — Category explains price (ω² = 0.129, moderate)</a:t>
            </a:r>
          </a:p>
        </p:txBody>
      </p:sp>
      <p:pic>
        <p:nvPicPr>
          <p:cNvPr id="4" name="Picture 3" descr="13_s1_category_v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22" y="1600200"/>
            <a:ext cx="905607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rial"/>
              </a:rPr>
              <a:t>Olist Analysis  ·  Poi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